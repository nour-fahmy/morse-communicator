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5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6BE72-5C16-051E-A22C-B62CD2CE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BF702-338A-22AC-2C55-89F2F4EB1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34370-5951-C24B-908F-2B5BD6D5F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C2BF5-F683-0393-DAA5-6993647F6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2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rse_deck/images/hero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 SYSTEMS</a:t>
            </a:r>
            <a:r>
              <a:rPr lang="en-US" sz="1100" kern="0" spc="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kern="0" spc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BRIEF</a:t>
            </a:r>
            <a:r>
              <a:rPr lang="en-US" sz="1100" kern="0" spc="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kern="0" spc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457200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MORSE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COMMUNICATOR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Infrared Morse Messaging Terminal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0" y="5394960"/>
            <a:ext cx="292608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0" y="5532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</a:t>
            </a:r>
            <a:endParaRPr lang="en-US" sz="1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kern="0" spc="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Nour Waleed · Hagar Ali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endParaRPr lang="en-US" sz="1000" dirty="0"/>
          </a:p>
          <a:p>
            <a:pPr marL="0" indent="0">
              <a:buNone/>
            </a:pPr>
            <a:r>
              <a:rPr lang="en-US" sz="12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 Alaa Hamdi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ONLINE · AWAITING SIGNAL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TABLE OF 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chapters from concept to working prototype.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8823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DBCEF0-712E-1625-EC72-2E9B1DAF649B}"/>
              </a:ext>
            </a:extLst>
          </p:cNvPr>
          <p:cNvGrpSpPr/>
          <p:nvPr/>
        </p:nvGrpSpPr>
        <p:grpSpPr>
          <a:xfrm>
            <a:off x="1371600" y="2441448"/>
            <a:ext cx="4297680" cy="667512"/>
            <a:chOff x="1417320" y="2441448"/>
            <a:chExt cx="4297680" cy="667512"/>
          </a:xfrm>
        </p:grpSpPr>
        <p:sp>
          <p:nvSpPr>
            <p:cNvPr id="9" name="Text 7"/>
            <p:cNvSpPr/>
            <p:nvPr/>
          </p:nvSpPr>
          <p:spPr>
            <a:xfrm>
              <a:off x="1417320" y="2441448"/>
              <a:ext cx="4297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Overview</a:t>
              </a:r>
              <a:endParaRPr lang="en-US" sz="17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17320" y="278892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What the system does</a:t>
              </a:r>
              <a:endParaRPr lang="en-US" sz="11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6217920" y="233172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78040" y="2441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set out to 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838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1732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 &amp; pin map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29184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7804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Layer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mechanics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389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417320" y="4361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17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architecture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425196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4389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178040" y="4361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7804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data 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417320" y="5321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vs HW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41732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diverge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212080"/>
            <a:ext cx="5486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17920" y="521208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78040" y="5321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Fixed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17804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debugging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· 08 CHAPTERS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PROJECT OVERVIEW</a:t>
            </a:r>
            <a:endParaRPr lang="en-US" sz="1100" dirty="0"/>
          </a:p>
        </p:txBody>
      </p:sp>
      <p:pic>
        <p:nvPicPr>
          <p:cNvPr id="4" name="Image 0" descr="/home/claude/morse_deck/images/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914400"/>
            <a:ext cx="64008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Two-way Morse, over light.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50292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73152" cy="1188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THE SETUP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017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Arduino terminals. Each can send and receive Morse-encoded text through an infrared link.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50292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THE INTERACTION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dedicated buttons compose letters. The system decodes Morse locally, transmits the message, and shows the chat on a 16×2 LCD.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5440680"/>
            <a:ext cx="1554480" cy="9601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5440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457200" y="6035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103120" y="5440680"/>
            <a:ext cx="1554480" cy="9601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103120" y="5440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2103120" y="6035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BUTTONS / SIDE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49040" y="5440680"/>
            <a:ext cx="1737360" cy="9601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74904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3749040" y="6035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MORSE GLYPHS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goals.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verifiable on the hardware.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61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embedded comms with two identical stations.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3182112"/>
            <a:ext cx="100584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64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38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button input → readable English text before transmission.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959352"/>
            <a:ext cx="100584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41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TRANSMIT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over IR; reconstruct it accurately on the receiver.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4736592"/>
            <a:ext cx="100584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548640" cy="5486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818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5093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firmware handles both send and reply on either side.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5513832"/>
            <a:ext cx="100584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548640" cy="5486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596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latest chat history on the LCD for live demo + validation.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OBJECTIVES · 5 VERIFIED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HARDWARE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of materials.</a:t>
            </a:r>
            <a:endParaRPr lang="en-US" sz="3800" dirty="0"/>
          </a:p>
        </p:txBody>
      </p:sp>
      <p:pic>
        <p:nvPicPr>
          <p:cNvPr id="5" name="Image 0" descr="/home/claude/morse_deck/images/hardwa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1005840"/>
            <a:ext cx="54864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916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controllers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1920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6634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VS1838B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receiver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3017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9164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LED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916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Emitter + resistor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29000" y="292608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66160" y="3017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66344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6634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I²C @ 0x27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2336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4114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69164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9164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feedback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29000" y="4023360"/>
            <a:ext cx="28346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566160" y="4114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12×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466344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66344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per station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580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MAP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580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69164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69748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70332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0916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71500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2084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D10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2668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TX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73252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RX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D11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73836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0744200" y="5760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SCL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BUTTON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buttons. One language.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keyboard. No screen typing. Pure Morse composition.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6596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659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a dot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27889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89788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9788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a dash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21040" y="246888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49640" y="278892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27889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↵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82980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298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→ letter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" y="470916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709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⌫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96596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96596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current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65960" y="5623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438912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470916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4709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␣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589788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SPACE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978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gap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5623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21040" y="4389120"/>
            <a:ext cx="36576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49640" y="4709160"/>
            <a:ext cx="1143000" cy="11430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49640" y="4709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982980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SEND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82980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Transmit via IR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9800" y="5623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 D9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INTERFACE · 6 BTN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SOFTWARE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Modular firmware.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sketch runs on both stations — symmetric design.</a:t>
            </a:r>
            <a:endParaRPr lang="en-US" sz="1300" dirty="0"/>
          </a:p>
        </p:txBody>
      </p:sp>
      <p:pic>
        <p:nvPicPr>
          <p:cNvPr id="6" name="Image 0" descr="/home/claude/morse_deck/images/ch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1097280"/>
            <a:ext cx="530352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377440"/>
            <a:ext cx="6583680" cy="43891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2450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pins, LCD, buzzer, IR.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6583680" cy="438912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08960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buttons + receive.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6583680" cy="43891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checkButtons()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10896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Debounced, one-shot detection.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886200"/>
            <a:ext cx="6583680" cy="438912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88620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959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handleButton(i)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10896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dispatch by button.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389120"/>
            <a:ext cx="6583680" cy="43891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38912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decodeMorse()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108960" y="4462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English char (or null).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892040"/>
            <a:ext cx="6583680" cy="438912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489204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0080" y="4965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sendMessageIR()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108960" y="4965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Char-by-char NEC transmission.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394960"/>
            <a:ext cx="6583680" cy="43891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539496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0080" y="5468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checkReceive()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108960" y="5468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incoming → end marker.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5897880"/>
            <a:ext cx="6583680" cy="438912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57200" y="5897880"/>
            <a:ext cx="45720" cy="43891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40080" y="5971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updateLCD()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108960" y="5971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send mode or chat log.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home/claude/morse_deck/image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26" y="1234440"/>
            <a:ext cx="11612880" cy="393192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EXECUTION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Eight stages, one beat.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button press to chat history — the message journey.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peripherals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96312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96312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96312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buttons + IR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52544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43984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43984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handleButton()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43984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/ send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00216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91656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91656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sendMessageIR()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+ EOM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47888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39328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339328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checkReceive()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chars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195560" y="4663440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2870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287000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addToLog()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28700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history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FLOW · 6 STAGES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SIMULATION vs HARDWARE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worlds. Same logic.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in </a:t>
            </a:r>
            <a:r>
              <a:rPr lang="en-US" sz="14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Tikercad</a:t>
            </a: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doesn't always survive the breadboard.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95144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286000"/>
            <a:ext cx="3931920" cy="457200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77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4206240" cy="457200"/>
          </a:xfrm>
          <a:prstGeom prst="rect">
            <a:avLst/>
          </a:prstGeom>
          <a:solidFill>
            <a:srgbClr val="5C2E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05335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704320" cy="566928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Arduino boards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IR LED + receiver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704320" cy="566928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iteration, easy rewiring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checks + alignment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4617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controlled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ambient light + blocking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166360"/>
            <a:ext cx="11704320" cy="566928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what's modeled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Polarity, weak TX, saturation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5806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logic &amp; UI flow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5806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full embedded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ISSUES &amp; FIXES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broke. What we did.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debugging — every fix is wired into the final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73152" cy="6858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BUTTON CONFUSION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Triggered wrong actions, stayed active.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26609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button area, aligned signal paths.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124712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73152" cy="6858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BUZZER GHOST FIRES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Activated without input — short or wrong row.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343814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buzzer to clean two-row connection.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124712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73152" cy="6858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 PROTOCOL MISMATCH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sent but RX couldn't rebuild chars.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FIX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421538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 NEC command-byte workflow.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1124712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73152" cy="6858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REPLY PATH INSTABLE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exchange worked, later replies failed.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11480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FIX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49926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blocking; re-armed receiver after TX.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1124712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73152" cy="6858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5513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HISTORY TOO SHALLOW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5806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minimal chat state visible.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114800" y="5513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FIX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57698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log; both sent + received tracked.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ISSUES · 5 RESOLVED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TESTING · VALIDATION ·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works. Here's how we know.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57784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577840" cy="548640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r>
              <a:rPr lang="en-US" sz="12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ON HARDWARE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7919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controls respond correctly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2783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27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feedback + LCD updates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7647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IR transmission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2511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transmission (reverse direction)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7375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873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exchanges after fixes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422392"/>
            <a:ext cx="228600" cy="2286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5422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logs both sides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874520"/>
            <a:ext cx="548640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1874520"/>
            <a:ext cx="5486400" cy="548640"/>
          </a:xfrm>
          <a:prstGeom prst="rect">
            <a:avLst/>
          </a:prstGeom>
          <a:solidFill>
            <a:srgbClr val="5C2E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46520" y="1874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 </a:t>
            </a:r>
            <a:r>
              <a:rPr lang="en-US" sz="12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shows only two lines at once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depends on distance + alignment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depth bounded by Arduino RAM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+ digits only (limited punctuation)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9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rse_deck/images/complete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100" b="1" kern="0" spc="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  ·  PROJECT COMPLETE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-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sent.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-2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received.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640080" y="37033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Morse Communicator delivers a complete embedded workflow: button-based Morse input, local English decoding, infrared transmission, reception, reply, and chat-style history — symmetric across two stations.</a:t>
            </a: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4B7EFE-AE77-D058-C26E-06BC50F5BF88}"/>
              </a:ext>
            </a:extLst>
          </p:cNvPr>
          <p:cNvGrpSpPr/>
          <p:nvPr/>
        </p:nvGrpSpPr>
        <p:grpSpPr>
          <a:xfrm>
            <a:off x="350520" y="5307037"/>
            <a:ext cx="3657600" cy="914400"/>
            <a:chOff x="548640" y="5303520"/>
            <a:chExt cx="3657600" cy="9144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0E7B6AF-FDAD-1936-FDC9-57D4144A5FD6}"/>
                </a:ext>
              </a:extLst>
            </p:cNvPr>
            <p:cNvGrpSpPr/>
            <p:nvPr/>
          </p:nvGrpSpPr>
          <p:grpSpPr>
            <a:xfrm>
              <a:off x="548640" y="5303520"/>
              <a:ext cx="3657600" cy="914400"/>
              <a:chOff x="548640" y="5303520"/>
              <a:chExt cx="3657600" cy="914400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548640" y="5303520"/>
                <a:ext cx="3657600" cy="914400"/>
              </a:xfrm>
              <a:prstGeom prst="rect">
                <a:avLst/>
              </a:prstGeom>
              <a:solidFill>
                <a:srgbClr val="111827"/>
              </a:solidFill>
              <a:ln w="12700">
                <a:solidFill>
                  <a:srgbClr val="164E6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777240" y="5349240"/>
                <a:ext cx="1371600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200" b="1" dirty="0">
                    <a:solidFill>
                      <a:srgbClr val="22D3EE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100%</a:t>
                </a:r>
                <a:endParaRPr lang="en-US" sz="3200" dirty="0"/>
              </a:p>
            </p:txBody>
          </p:sp>
        </p:grpSp>
        <p:sp>
          <p:nvSpPr>
            <p:cNvPr id="11" name="Text 8"/>
            <p:cNvSpPr/>
            <p:nvPr/>
          </p:nvSpPr>
          <p:spPr>
            <a:xfrm>
              <a:off x="2194560" y="5349240"/>
              <a:ext cx="20116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kern="0" spc="300" dirty="0">
                  <a:solidFill>
                    <a:srgbClr val="94A3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OBJECTIVES MET</a:t>
              </a:r>
              <a:endParaRPr lang="en-US" sz="1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FF5AC5-5798-48D1-F829-9163BDA849DD}"/>
              </a:ext>
            </a:extLst>
          </p:cNvPr>
          <p:cNvGrpSpPr/>
          <p:nvPr/>
        </p:nvGrpSpPr>
        <p:grpSpPr>
          <a:xfrm>
            <a:off x="4183380" y="5307037"/>
            <a:ext cx="3657600" cy="914400"/>
            <a:chOff x="4572000" y="5303520"/>
            <a:chExt cx="3657600" cy="914400"/>
          </a:xfrm>
        </p:grpSpPr>
        <p:sp>
          <p:nvSpPr>
            <p:cNvPr id="12" name="Shape 9"/>
            <p:cNvSpPr/>
            <p:nvPr/>
          </p:nvSpPr>
          <p:spPr>
            <a:xfrm>
              <a:off x="4572000" y="5303520"/>
              <a:ext cx="3657600" cy="914400"/>
            </a:xfrm>
            <a:prstGeom prst="rect">
              <a:avLst/>
            </a:prstGeom>
            <a:solidFill>
              <a:srgbClr val="111827"/>
            </a:solidFill>
            <a:ln w="12700">
              <a:solidFill>
                <a:srgbClr val="164E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5044745" y="5324622"/>
              <a:ext cx="13716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2D3E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5/5</a:t>
              </a:r>
              <a:endParaRPr lang="en-US" sz="3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126480" y="5349240"/>
              <a:ext cx="20116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kern="0" spc="300" dirty="0">
                  <a:solidFill>
                    <a:srgbClr val="94A3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ISSUES RESOLVED</a:t>
              </a:r>
              <a:endParaRPr lang="en-US" sz="1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9E24D4-D285-CC06-B105-067C486A6A90}"/>
              </a:ext>
            </a:extLst>
          </p:cNvPr>
          <p:cNvGrpSpPr/>
          <p:nvPr/>
        </p:nvGrpSpPr>
        <p:grpSpPr>
          <a:xfrm>
            <a:off x="8138160" y="5303520"/>
            <a:ext cx="3657600" cy="914400"/>
            <a:chOff x="8503920" y="5303520"/>
            <a:chExt cx="3657600" cy="914400"/>
          </a:xfrm>
        </p:grpSpPr>
        <p:sp>
          <p:nvSpPr>
            <p:cNvPr id="15" name="Shape 12"/>
            <p:cNvSpPr/>
            <p:nvPr/>
          </p:nvSpPr>
          <p:spPr>
            <a:xfrm>
              <a:off x="8503920" y="5303520"/>
              <a:ext cx="3657600" cy="914400"/>
            </a:xfrm>
            <a:prstGeom prst="rect">
              <a:avLst/>
            </a:prstGeom>
            <a:solidFill>
              <a:srgbClr val="111827"/>
            </a:solidFill>
            <a:ln w="12700">
              <a:solidFill>
                <a:srgbClr val="164E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9083040" y="5372100"/>
              <a:ext cx="13716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</a:t>
              </a:r>
              <a:endParaRPr lang="en-US" sz="32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0058400" y="5349240"/>
              <a:ext cx="20116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kern="0" spc="300" dirty="0">
                  <a:solidFill>
                    <a:srgbClr val="94A3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STATIONS · 1 PROTOCOL</a:t>
              </a:r>
              <a:endParaRPr lang="en-US" sz="10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</a:t>
            </a:r>
            <a:r>
              <a:rPr lang="en-US" sz="10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MORSE COMMUNICATOR  ·  v1.0  ·  EMBEDDED SYSTEMS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749B5-3FCF-289B-98FA-70D1AA23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rse_deck/images/hero.png">
            <a:extLst>
              <a:ext uri="{FF2B5EF4-FFF2-40B4-BE49-F238E27FC236}">
                <a16:creationId xmlns:a16="http://schemas.microsoft.com/office/drawing/2014/main" id="{3EA1318E-3E09-4468-B96A-70F515FCB1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7D232E9-BE96-59C5-125C-B7230760453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C6269D-B67C-36CF-7073-0DADCB07CCC7}"/>
              </a:ext>
            </a:extLst>
          </p:cNvPr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 SYSTEMS</a:t>
            </a:r>
            <a:r>
              <a:rPr lang="en-US" sz="1100" kern="0" spc="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 </a:t>
            </a:r>
            <a:r>
              <a:rPr lang="en-US" sz="1100" kern="0" spc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BRIEF</a:t>
            </a:r>
            <a:r>
              <a:rPr lang="en-US" sz="1100" kern="0" spc="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1100" spc="300" dirty="0">
                <a:solidFill>
                  <a:srgbClr val="94A3B8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Bidirectional Infrared Morse Messaging Terminal</a:t>
            </a:r>
            <a:endParaRPr lang="en-US" sz="1100" spc="300" dirty="0">
              <a:solidFill>
                <a:srgbClr val="94A3B8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A996EDE-F806-1A74-3C68-98A06CC7216C}"/>
              </a:ext>
            </a:extLst>
          </p:cNvPr>
          <p:cNvSpPr/>
          <p:nvPr/>
        </p:nvSpPr>
        <p:spPr>
          <a:xfrm>
            <a:off x="640080" y="2468880"/>
            <a:ext cx="457200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34D71D6-A99C-4E92-F188-CA526DB4C6B7}"/>
              </a:ext>
            </a:extLst>
          </p:cNvPr>
          <p:cNvSpPr/>
          <p:nvPr/>
        </p:nvSpPr>
        <p:spPr>
          <a:xfrm>
            <a:off x="2438247" y="24155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F8FAFC"/>
                </a:solidFill>
                <a:latin typeface="Arial Black" pitchFamily="34" charset="0"/>
              </a:rPr>
              <a:t>Thank</a:t>
            </a:r>
            <a:endParaRPr lang="en-US" sz="1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811208-3A49-4168-8D1B-5A1A7FEFD824}"/>
              </a:ext>
            </a:extLst>
          </p:cNvPr>
          <p:cNvSpPr/>
          <p:nvPr/>
        </p:nvSpPr>
        <p:spPr>
          <a:xfrm>
            <a:off x="6196819" y="3680460"/>
            <a:ext cx="31406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-100" dirty="0">
                <a:solidFill>
                  <a:srgbClr val="22D3EE"/>
                </a:solidFill>
                <a:latin typeface="Arial Black" pitchFamily="34" charset="0"/>
              </a:rPr>
              <a:t>YOU</a:t>
            </a:r>
            <a:endParaRPr lang="en-US" sz="8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22635E8-7B79-A850-F0BD-4930D2EC1429}"/>
              </a:ext>
            </a:extLst>
          </p:cNvPr>
          <p:cNvSpPr/>
          <p:nvPr/>
        </p:nvSpPr>
        <p:spPr>
          <a:xfrm>
            <a:off x="8686800" y="5394960"/>
            <a:ext cx="292608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3E785E-9B42-6B92-01F5-73090791EC23}"/>
              </a:ext>
            </a:extLst>
          </p:cNvPr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r>
              <a:rPr lang="en-US" sz="11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OFFLINE · THAT’S IT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5703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1001</Words>
  <Application>Microsoft Office PowerPoint</Application>
  <PresentationFormat>Widescreen</PresentationFormat>
  <Paragraphs>305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Morse Communicator — Bidirectional IR Messaging</dc:title>
  <dc:subject>PptxGenJS Presentation</dc:subject>
  <dc:creator>Nour Waleed · Hagar Ali</dc:creator>
  <cp:lastModifiedBy>Nour Waleed</cp:lastModifiedBy>
  <cp:revision>2</cp:revision>
  <dcterms:created xsi:type="dcterms:W3CDTF">2026-05-18T11:07:48Z</dcterms:created>
  <dcterms:modified xsi:type="dcterms:W3CDTF">2026-05-18T11:27:05Z</dcterms:modified>
</cp:coreProperties>
</file>